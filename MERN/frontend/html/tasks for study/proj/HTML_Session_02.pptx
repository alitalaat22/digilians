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JodvOFwVaNuuAshs+hTK59f3s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90a404a57_0_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90a404a57_0_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90a404a57_0_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90a404a57_0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90a404a57_0_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b90a404a57_0_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type="title"/>
          </p:nvPr>
        </p:nvSpPr>
        <p:spPr>
          <a:xfrm>
            <a:off x="1265390" y="524189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963386" y="136526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898071" y="115435"/>
            <a:ext cx="10923815" cy="896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3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type="title"/>
          </p:nvPr>
        </p:nvSpPr>
        <p:spPr>
          <a:xfrm>
            <a:off x="960664" y="-59416"/>
            <a:ext cx="10515600" cy="111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5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930729" y="0"/>
            <a:ext cx="10896599" cy="102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28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9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 txBox="1"/>
          <p:nvPr>
            <p:ph type="title"/>
          </p:nvPr>
        </p:nvSpPr>
        <p:spPr>
          <a:xfrm>
            <a:off x="1377043" y="-1952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963386" y="136526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963386" y="136526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" name="Google Shape;10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1937" y="234149"/>
            <a:ext cx="10390414" cy="122397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07D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0F07D"/>
                </a:solidFill>
                <a:latin typeface="Arial"/>
                <a:ea typeface="Arial"/>
                <a:cs typeface="Arial"/>
                <a:sym typeface="Arial"/>
              </a:rPr>
              <a:t>Text Content &amp; Formatting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What You Will Learn in This Session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457200" y="2011680"/>
            <a:ext cx="182880" cy="548640"/>
          </a:xfrm>
          <a:prstGeom prst="straightConnector1">
            <a:avLst/>
          </a:prstGeom>
          <a:noFill/>
          <a:ln cap="flat" cmpd="sng" w="1016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Understand Standard vs Quirks Mode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57200" y="2697480"/>
            <a:ext cx="1097280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2"/>
          <p:cNvCxnSpPr/>
          <p:nvPr/>
        </p:nvCxnSpPr>
        <p:spPr>
          <a:xfrm>
            <a:off x="457200" y="2697480"/>
            <a:ext cx="182880" cy="548640"/>
          </a:xfrm>
          <a:prstGeom prst="straightConnector1">
            <a:avLst/>
          </a:prstGeom>
          <a:noFill/>
          <a:ln cap="flat" cmpd="sng" w="1016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"/>
          <p:cNvSpPr/>
          <p:nvPr/>
        </p:nvSpPr>
        <p:spPr>
          <a:xfrm>
            <a:off x="731520" y="27889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Master HTML Headings (h1-h6)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2"/>
          <p:cNvCxnSpPr/>
          <p:nvPr/>
        </p:nvCxnSpPr>
        <p:spPr>
          <a:xfrm>
            <a:off x="457200" y="3383280"/>
            <a:ext cx="182880" cy="548640"/>
          </a:xfrm>
          <a:prstGeom prst="straightConnector1">
            <a:avLst/>
          </a:prstGeom>
          <a:noFill/>
          <a:ln cap="flat" cmpd="sng" w="1016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"/>
          <p:cNvSpPr/>
          <p:nvPr/>
        </p:nvSpPr>
        <p:spPr>
          <a:xfrm>
            <a:off x="731520" y="3474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Work with paragraphs and attributes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57200" y="4069080"/>
            <a:ext cx="1097280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2"/>
          <p:cNvCxnSpPr/>
          <p:nvPr/>
        </p:nvCxnSpPr>
        <p:spPr>
          <a:xfrm>
            <a:off x="457200" y="4069080"/>
            <a:ext cx="182880" cy="548640"/>
          </a:xfrm>
          <a:prstGeom prst="straightConnector1">
            <a:avLst/>
          </a:prstGeom>
          <a:noFill/>
          <a:ln cap="flat" cmpd="sng" w="1016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"/>
          <p:cNvSpPr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Format text with HTML elements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57200" y="4754880"/>
            <a:ext cx="1097280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2"/>
          <p:cNvCxnSpPr/>
          <p:nvPr/>
        </p:nvCxnSpPr>
        <p:spPr>
          <a:xfrm>
            <a:off x="457200" y="4754880"/>
            <a:ext cx="182880" cy="548640"/>
          </a:xfrm>
          <a:prstGeom prst="straightConnector1">
            <a:avLst/>
          </a:prstGeom>
          <a:noFill/>
          <a:ln cap="flat" cmpd="sng" w="1016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Create links and understand navigation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457200" y="5440680"/>
            <a:ext cx="1097280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"/>
          <p:cNvCxnSpPr/>
          <p:nvPr/>
        </p:nvCxnSpPr>
        <p:spPr>
          <a:xfrm>
            <a:off x="457200" y="5440680"/>
            <a:ext cx="182880" cy="548640"/>
          </a:xfrm>
          <a:prstGeom prst="straightConnector1">
            <a:avLst/>
          </a:prstGeom>
          <a:noFill/>
          <a:ln cap="flat" cmpd="sng" w="1016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Use span, break, and horizontal rule elements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457200" y="1330886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Standard Mode vs Quirks Mode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57200" y="1970966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Browser rendering modes affect how your webpage is displayed: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57200" y="2428166"/>
            <a:ext cx="5303400" cy="2286000"/>
          </a:xfrm>
          <a:prstGeom prst="rect">
            <a:avLst/>
          </a:prstGeom>
          <a:solidFill>
            <a:srgbClr val="DCFCE7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40080" y="2565326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Standards Mode ✓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40080" y="3022526"/>
            <a:ext cx="4937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Triggered by correct DOCTYPE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Follows W3C specifications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Predictable behavior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Modern CSS works correctly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Recommended for all sites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126480" y="2428166"/>
            <a:ext cx="5303400" cy="2286000"/>
          </a:xfrm>
          <a:prstGeom prst="rect">
            <a:avLst/>
          </a:prstGeom>
          <a:solidFill>
            <a:srgbClr val="FEE2E2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309360" y="2565326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Quirks Mode ✗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309360" y="3022526"/>
            <a:ext cx="4937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Missing or old DOCTYPE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Emulates old browsers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Unpredictable behavior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CSS issues and bugs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Avoid at all costs!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57200" y="4897046"/>
            <a:ext cx="10972800" cy="731400"/>
          </a:xfrm>
          <a:prstGeom prst="rect">
            <a:avLst/>
          </a:prstGeom>
          <a:solidFill>
            <a:srgbClr val="FEF3C7"/>
          </a:solidFill>
          <a:ln cap="flat" cmpd="sng" w="254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40080" y="5079926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💡 Remember: Always include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303520" y="5079926"/>
            <a:ext cx="2286000" cy="365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394960" y="5079926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680960" y="5079926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 to ensure Standards Mode!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HTML Headings (h1 - h6)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provides 6 levels of headings, from most important (h1) to least important (h6):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57200" y="2194560"/>
            <a:ext cx="10972800" cy="4023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&lt;h1&gt;Heading 1&lt;/h1&gt;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114800" y="23774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1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4"/>
          <p:cNvCxnSpPr/>
          <p:nvPr/>
        </p:nvCxnSpPr>
        <p:spPr>
          <a:xfrm>
            <a:off x="640080" y="2971800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4"/>
          <p:cNvSpPr/>
          <p:nvPr/>
        </p:nvSpPr>
        <p:spPr>
          <a:xfrm>
            <a:off x="640080" y="3017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&lt;h2&gt;Heading 2&lt;/h2&gt;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114800" y="3017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640080" y="3566160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/>
          <p:nvPr/>
        </p:nvSpPr>
        <p:spPr>
          <a:xfrm>
            <a:off x="640080" y="3611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&lt;h3&gt;Heading 3&lt;/h3&gt;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114800" y="361188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4"/>
          <p:cNvCxnSpPr/>
          <p:nvPr/>
        </p:nvCxnSpPr>
        <p:spPr>
          <a:xfrm>
            <a:off x="640080" y="4114800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4"/>
          <p:cNvSpPr/>
          <p:nvPr/>
        </p:nvSpPr>
        <p:spPr>
          <a:xfrm>
            <a:off x="640080" y="4160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&lt;h4&gt;Heading 4&lt;/h4&gt;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114800" y="4160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4"/>
          <p:cNvCxnSpPr/>
          <p:nvPr/>
        </p:nvCxnSpPr>
        <p:spPr>
          <a:xfrm>
            <a:off x="640080" y="4617720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4"/>
          <p:cNvSpPr/>
          <p:nvPr/>
        </p:nvSpPr>
        <p:spPr>
          <a:xfrm>
            <a:off x="640080" y="4663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&lt;h5&gt;Heading 5&lt;/h5&gt;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114800" y="46634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4"/>
          <p:cNvCxnSpPr/>
          <p:nvPr/>
        </p:nvCxnSpPr>
        <p:spPr>
          <a:xfrm>
            <a:off x="640080" y="5074920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4"/>
          <p:cNvSpPr/>
          <p:nvPr/>
        </p:nvSpPr>
        <p:spPr>
          <a:xfrm>
            <a:off x="640080" y="51206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&lt;h6&gt;Heading 6&lt;/h6&gt;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114800" y="51206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Heading Best Practices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1828800"/>
            <a:ext cx="5303520" cy="201168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40080" y="19659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✓ DO: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40080" y="237744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only ONE &lt;h1&gt; per page (main title)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Follow hierarchical order (h1 → h2 → h3)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headings for structure, not styling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Keep headings descriptive and meaningful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headings to improve SEO and accessibility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126480" y="1828800"/>
            <a:ext cx="5303520" cy="2011680"/>
          </a:xfrm>
          <a:prstGeom prst="rect">
            <a:avLst/>
          </a:prstGeom>
          <a:solidFill>
            <a:srgbClr val="FEF2F2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309360" y="19659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✗ DON'T: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309360" y="237744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Skip heading levels (h1 → h4)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headings just to make text bigger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Have multiple &lt;h1&gt; tags on one page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headings inside paragraphs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57200" y="4023360"/>
            <a:ext cx="109728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640080" y="4114800"/>
            <a:ext cx="10607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Good Structure --&gt;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&lt;h1&gt;My Blog&lt;/h1&gt;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&lt;h2&gt;Article Title&lt;/h2&gt;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&lt;h3&gt;Section 1&lt;/h3&gt;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&lt;h3&gt;Section 2&lt;/h3&gt;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&lt;h2&gt;Another Article&lt;/h2&gt;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The Paragraph Element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&lt;p&gt; tag defines a paragraph of text. Browsers automatically add space before and after paragraphs.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2194560"/>
            <a:ext cx="109728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40080" y="2286000"/>
            <a:ext cx="10607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&lt;p&gt;This is a paragraph.&lt;/p&gt;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&lt;p&gt;This is another paragraph.&lt;/p&gt;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Paragraphs can contain multiple lines.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The browser will automatically wrap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and ignore extra spaces and line breaks.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" y="4206240"/>
            <a:ext cx="10972800" cy="1371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40080" y="429768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40080" y="457200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a paragraph.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another paragraph.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Paragraphs can contain multiple lines. The browser will automatically wrap text and ignore extra spaces and line breaks.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64008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💡 Important: HTML collapses multiple spaces and line breaks into a single space!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HTML Attributes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Attributes provide additional information about HTML elements. They are always specified in the opening tag.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2194560"/>
            <a:ext cx="10972800" cy="731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1828800" y="23774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&lt;tagname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200400" y="2377440"/>
            <a:ext cx="145278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attribute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72000" y="2377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747189" y="2377440"/>
            <a:ext cx="1256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76072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&gt;Content&lt;/tagname&gt;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57200" y="3108960"/>
            <a:ext cx="5303520" cy="25603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40080" y="32461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 Global Attributes: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40080" y="3611880"/>
            <a:ext cx="49377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 - Unique identifier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- CSS class 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style - Inline CSS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title - Tooltip text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lang - Language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126480" y="3108960"/>
            <a:ext cx="5303520" cy="25603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309360" y="32461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309360" y="3611880"/>
            <a:ext cx="49377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&lt;p id="intro"&gt;Text&lt;/p&gt;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class="box"&gt;Content&lt;/div&gt;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&lt;h1 title="Main Heading"&gt;Title&lt;/h1&gt;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&lt;p lang="ar"&gt;مرحبا&lt;/p&gt;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Text Formatting Elements - Part 1</a:t>
            </a:r>
            <a:endParaRPr sz="36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HTML provides many elements for formatting text: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219456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Bold: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40080" y="25420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645920" y="25420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&lt;b&gt;Bold Text&lt;/b&gt;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486400" y="22402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67512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Bold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0" y="254203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Makes text bold (no semantic meaning)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301752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40080" y="3063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Strong: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40080" y="33649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645920" y="336499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&lt;strong&gt;Important Text&lt;/strong&gt;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486400" y="3063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675120" y="3063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Important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486400" y="336499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Bold + semantic importance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57200" y="384048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Italic: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40080" y="4187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645920" y="418795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&lt;i&gt;Italic Text&lt;/i&gt;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486400" y="38862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675120" y="3886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Italic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0" y="418795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Makes text italic (no semantic meaning)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466344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40080" y="4709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Emphasis: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40080" y="50109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1645920" y="501091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&lt;em&gt;Emphasized Text&lt;/em&gt;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486400" y="4709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675120" y="4709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Emphasized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0" y="501091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Italic + semantic emphasis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57200" y="548640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40080" y="5532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40080" y="58338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645920" y="58338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&lt;mark&gt;Highlighted&lt;/mark&gt;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486400" y="55321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675120" y="5532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047"/>
                </a:solidFill>
                <a:latin typeface="Calibri"/>
                <a:ea typeface="Calibri"/>
                <a:cs typeface="Calibri"/>
                <a:sym typeface="Calibri"/>
              </a:rPr>
              <a:t>Highlighted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486400" y="583387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Marks/highlights text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Text Formatting Elements - Part 2</a:t>
            </a:r>
            <a:endParaRPr sz="36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57200" y="182880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4008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40080" y="21762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645920" y="21762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&lt;small&gt;Small Text&lt;/small&gt;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486400" y="1874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675120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486400" y="217627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Makes text smaller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57200" y="265176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Delete: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40080" y="2999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645920" y="29992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&lt;del&gt;Deleted Text&lt;/del&gt;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486400" y="26974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675120" y="2697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Deleted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486400" y="299923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Shows deleted/removed 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57200" y="347472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40080" y="3520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Insert: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40080" y="38221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645920" y="382219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&lt;ins&gt;Inserted Text&lt;/ins&gt;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86400" y="35204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675120" y="3520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Inserted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486400" y="382219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Shows inserted/added 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57200" y="429768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64008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Subscript: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40080" y="46451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645920" y="464515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&lt;sub&gt;H₂O&lt;/sub&gt;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486400" y="43434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675120" y="4343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H₂O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486400" y="464515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Subscript text (chemistry, math)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57200" y="5120640"/>
            <a:ext cx="10972800" cy="685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40080" y="5166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Superscript: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40080" y="54681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645920" y="546811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&lt;sup&gt;X²&lt;/sup&gt;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486400" y="5166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675120" y="5166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486400" y="546811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Superscript text (exponents, footnotes)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solidFill>
            <a:srgbClr val="FEF3C7"/>
          </a:solidFill>
          <a:ln cap="flat" cmpd="sng" w="254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40080" y="61264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💡 Best Practice: Prefer &lt;strong&gt; over &lt;b&gt; and &lt;em&gt; over &lt;i&gt; for better semantics and accessibility!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Links - The Anchor Tag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&lt;a&gt; (anchor) tag creates hyperlinks. The href attribute specifies the destination URL.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57200" y="2194560"/>
            <a:ext cx="109728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640080" y="2286000"/>
            <a:ext cx="10607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External Link --&gt;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href="https://www.google.com"&gt;Visit Google&lt;/a&gt;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Link to another page in your site --&gt;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href="about.html"&gt;About Us&lt;/a&gt;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Link to a section on the same page --&gt;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href="#section1"&gt;Go to Section 1&lt;/a&gt;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Email Link --&gt;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href="mailto:info@example.com"&gt;Email Us&lt;/a&gt;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Phone Link --&gt;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href="tel:+1234567890"&gt;Call Us&lt;/a&gt;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57200" y="4937760"/>
            <a:ext cx="10972800" cy="8229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40080" y="50292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40080" y="5349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lang="en-US" sz="1400" u="sng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Visit Google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Link Attributes and Target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40080" y="192024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Attribute: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40080" y="2240280"/>
            <a:ext cx="1060704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777240" y="2350521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Open in new tab --&gt;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href="https://google.com" target="_blank"&gt;Google&lt;/a&gt;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&lt;!-- Open in same tab (default) --&gt;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href="page.html" target="_self"&gt;Same Tab&lt;/a&gt;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57200" y="3383280"/>
            <a:ext cx="1097280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40080" y="347472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title Attribute: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40080" y="3840480"/>
            <a:ext cx="106070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77240" y="393192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href="about.html" title="Learn more about us"&gt;About&lt;/a&gt;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640080" y="4389120"/>
            <a:ext cx="10607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Shows tooltip on hover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solidFill>
            <a:srgbClr val="FEF3C7"/>
          </a:solidFill>
          <a:ln cap="flat" cmpd="sng" w="254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40080" y="4983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⚠️ Security Tip: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40080" y="530352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When using target="_blank", add rel="noopener noreferrer" for security: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777240" y="571500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href="https://example.com" target="_blank" rel="noopener noreferrer"&gt;Link&lt;/a&gt;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The Span Element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&lt;span&gt; is an inline container used to style or manipulate a part of text.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457200" y="2194560"/>
            <a:ext cx="109728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640080" y="246888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This is &lt;span style="color: red;"&gt;red text&lt;/span&gt;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in a paragraph.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Price: &lt;span class="price"&gt;$99.99&lt;/span&gt;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The word &lt;span id="highlight"&gt;important&lt;/span&gt;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stands out.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57200" y="4709160"/>
            <a:ext cx="1097280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640080" y="48006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40080" y="5120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554480" y="5120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red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2468880" y="5120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a paragraph.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029200" y="51206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Price: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760720" y="5120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$99.99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57200" y="5806440"/>
            <a:ext cx="10972800" cy="822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640080" y="603504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💡 Key Point: &lt;span&gt; has no visual effect by itself. Use it with CSS classes or styles to format inline content.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Line Break &lt;br&gt; and Horizontal Rule &lt;hr&gt;</a:t>
            </a:r>
            <a:endParaRPr sz="3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57200" y="1828800"/>
            <a:ext cx="5303400" cy="4266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640080" y="1999470"/>
            <a:ext cx="49377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&lt;br&gt; - Line Break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40080" y="2767485"/>
            <a:ext cx="4937700" cy="1536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777240" y="2938154"/>
            <a:ext cx="46635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First line&lt;br&gt;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Second line&lt;br&gt;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Third 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640080" y="4474184"/>
            <a:ext cx="4937700" cy="1365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777240" y="4559519"/>
            <a:ext cx="4663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777240" y="4986193"/>
            <a:ext cx="46635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6126477" y="1828800"/>
            <a:ext cx="5303400" cy="4266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6309357" y="1999470"/>
            <a:ext cx="49377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&lt;hr&gt; - Horizontal Rule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6309357" y="2767485"/>
            <a:ext cx="4937700" cy="1536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6446517" y="2938154"/>
            <a:ext cx="46635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&lt;h2&gt;Section 1&lt;/h2&gt;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&lt;p&gt;Content here...&lt;/p&gt;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&lt;hr&gt;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&lt;h2&gt;Section 2&lt;/h2&gt;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&lt;p&gt;More content...&lt;/p&gt;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6309357" y="4474184"/>
            <a:ext cx="4937700" cy="1365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6446517" y="4559519"/>
            <a:ext cx="4663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6446517" y="4900858"/>
            <a:ext cx="4663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6446517" y="5242198"/>
            <a:ext cx="46635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here...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13"/>
          <p:cNvCxnSpPr/>
          <p:nvPr/>
        </p:nvCxnSpPr>
        <p:spPr>
          <a:xfrm>
            <a:off x="6446517" y="5498203"/>
            <a:ext cx="4663500" cy="0"/>
          </a:xfrm>
          <a:prstGeom prst="straightConnector1">
            <a:avLst/>
          </a:prstGeom>
          <a:noFill/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13"/>
          <p:cNvSpPr/>
          <p:nvPr/>
        </p:nvSpPr>
        <p:spPr>
          <a:xfrm>
            <a:off x="6446517" y="5583538"/>
            <a:ext cx="4663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Session 2 Summary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solidFill>
            <a:srgbClr val="DCFCE7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640080" y="196596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What We Learned Today: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40080" y="2377440"/>
            <a:ext cx="10607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Understanding browser rendering modes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Using HTML headings (h1-h6) properly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Working with paragraphs and text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HTML attributes and their usage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Text formatting elements (strong, em, mark, etc.)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Creating links with the anchor tag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Using span, br, and hr elements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Next Session: Images, Lists, Tables &amp; More!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Session 2 Tasks</a:t>
            </a:r>
            <a:endParaRPr sz="4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640080" y="192024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Your Tasks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640080" y="224028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these exercises before the next session: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640080" y="283464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 1: Create a Blog Post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40080" y="32004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an HTML page with an h1 title, h2 subtitles, multiple paragraphs, and use at least 5 different formatting elements (strong, em, mark, etc.).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57200" y="4023360"/>
            <a:ext cx="1097280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640080" y="411480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 2: Navigation Menu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640080" y="448056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simple navigation menu with 5 links. Include both internal links (to sections on the same page) and external links. Use proper target and rel attributes.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57200" y="5303520"/>
            <a:ext cx="1097280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640080" y="5394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 3: Format a Recipe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640080" y="576072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recipe page with a title, ingredients (use formatting for measurements), instructions with line breaks, and use hr to separate sections. Style some text with span elements.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g3b90a404a57_0_1"/>
          <p:cNvPicPr preferRelativeResize="0"/>
          <p:nvPr/>
        </p:nvPicPr>
        <p:blipFill rotWithShape="1">
          <a:blip r:embed="rId3">
            <a:alphaModFix/>
          </a:blip>
          <a:srcRect b="30118" l="0" r="1854" t="0"/>
          <a:stretch/>
        </p:blipFill>
        <p:spPr>
          <a:xfrm>
            <a:off x="1346950" y="1590600"/>
            <a:ext cx="9498101" cy="425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g3b90a404a57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425" y="1283750"/>
            <a:ext cx="10307126" cy="53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g3b90a404a5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373" y="1411850"/>
            <a:ext cx="6495551" cy="544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6" title="fzx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6467" y="2097800"/>
            <a:ext cx="4459067" cy="33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2026-01-16T14:16:49Z</dcterms:created>
  <dc:creator>PptxGenJS</dc:creator>
</cp:coreProperties>
</file>